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12192000"/>
  <p:embeddedFontLst>
    <p:embeddedFont>
      <p:font typeface="Google Sans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g03+TbAvfE5RG0MJri7f7st9rB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6010F1E-61B9-4BB0-9B62-2EA467E1C60E}">
  <a:tblStyle styleId="{76010F1E-61B9-4BB0-9B62-2EA467E1C60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GoogleSans-bold.fntdata"/><Relationship Id="rId12" Type="http://schemas.openxmlformats.org/officeDocument/2006/relationships/font" Target="fonts/GoogleSans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GoogleSans-boldItalic.fntdata"/><Relationship Id="rId14" Type="http://schemas.openxmlformats.org/officeDocument/2006/relationships/font" Target="fonts/GoogleSans-italic.fntdata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" name="Google Shape;1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" name="Google Shape;4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bg>
      <p:bgPr>
        <a:solidFill>
          <a:srgbClr val="1E2A26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9"/>
          <p:cNvSpPr txBox="1"/>
          <p:nvPr>
            <p:ph type="title"/>
          </p:nvPr>
        </p:nvSpPr>
        <p:spPr>
          <a:xfrm>
            <a:off x="812800" y="812800"/>
            <a:ext cx="10566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F5F1"/>
              </a:buClr>
              <a:buSzPts val="3600"/>
              <a:buFont typeface="Georgia"/>
              <a:buNone/>
              <a:defRPr sz="3600">
                <a:solidFill>
                  <a:srgbClr val="F2F5F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9"/>
          <p:cNvSpPr txBox="1"/>
          <p:nvPr>
            <p:ph idx="1" type="body"/>
          </p:nvPr>
        </p:nvSpPr>
        <p:spPr>
          <a:xfrm>
            <a:off x="812800" y="1620520"/>
            <a:ext cx="10566400" cy="4424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40000"/>
              </a:lnSpc>
              <a:spcBef>
                <a:spcPts val="320"/>
              </a:spcBef>
              <a:spcAft>
                <a:spcPts val="0"/>
              </a:spcAft>
              <a:buClr>
                <a:srgbClr val="F2F5F1"/>
              </a:buClr>
              <a:buSzPts val="1600"/>
              <a:buNone/>
              <a:defRPr sz="1600">
                <a:solidFill>
                  <a:srgbClr val="F2F5F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A2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/>
          <p:nvPr>
            <p:ph type="title"/>
          </p:nvPr>
        </p:nvSpPr>
        <p:spPr>
          <a:xfrm>
            <a:off x="812800" y="812800"/>
            <a:ext cx="10566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F5F1"/>
              </a:buClr>
              <a:buSzPts val="3600"/>
              <a:buFont typeface="Georgia"/>
              <a:buNone/>
              <a:defRPr b="0" i="0" sz="3600" u="none" cap="none" strike="noStrike">
                <a:solidFill>
                  <a:srgbClr val="F2F5F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8"/>
          <p:cNvSpPr txBox="1"/>
          <p:nvPr>
            <p:ph idx="1" type="body"/>
          </p:nvPr>
        </p:nvSpPr>
        <p:spPr>
          <a:xfrm>
            <a:off x="812800" y="1620520"/>
            <a:ext cx="10566400" cy="4424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40000"/>
              </a:lnSpc>
              <a:spcBef>
                <a:spcPts val="320"/>
              </a:spcBef>
              <a:spcAft>
                <a:spcPts val="0"/>
              </a:spcAft>
              <a:buClr>
                <a:srgbClr val="F2F5F1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F2F5F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A26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"/>
          <p:cNvSpPr/>
          <p:nvPr/>
        </p:nvSpPr>
        <p:spPr>
          <a:xfrm>
            <a:off x="812800" y="1384300"/>
            <a:ext cx="10883392" cy="309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0A526"/>
              </a:buClr>
              <a:buSzPts val="1600"/>
              <a:buFont typeface="Georgia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2" name="Google Shape;22;p1"/>
          <p:cNvSpPr txBox="1"/>
          <p:nvPr>
            <p:ph type="title"/>
          </p:nvPr>
        </p:nvSpPr>
        <p:spPr>
          <a:xfrm>
            <a:off x="812800" y="1973580"/>
            <a:ext cx="10883392" cy="1518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F2F5F1"/>
              </a:buClr>
              <a:buSzPts val="5600"/>
              <a:buFont typeface="Georgia"/>
              <a:buNone/>
            </a:pPr>
            <a:r>
              <a:rPr b="1" i="0" lang="en-US" sz="5600">
                <a:solidFill>
                  <a:srgbClr val="F2F5F1"/>
                </a:solidFill>
                <a:latin typeface="Georgia"/>
                <a:ea typeface="Georgia"/>
                <a:cs typeface="Georgia"/>
                <a:sym typeface="Georgia"/>
              </a:rPr>
              <a:t>Menú de restaurante con DOM Traversing</a:t>
            </a:r>
            <a:endParaRPr sz="5600"/>
          </a:p>
        </p:txBody>
      </p:sp>
      <p:sp>
        <p:nvSpPr>
          <p:cNvPr id="23" name="Google Shape;23;p1"/>
          <p:cNvSpPr/>
          <p:nvPr/>
        </p:nvSpPr>
        <p:spPr>
          <a:xfrm>
            <a:off x="812800" y="3771900"/>
            <a:ext cx="10883392" cy="345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2F5F1"/>
              </a:buClr>
              <a:buSzPts val="1800"/>
              <a:buFont typeface="Georgia"/>
              <a:buNone/>
            </a:pPr>
            <a:r>
              <a:rPr b="0" i="0" lang="en-US" sz="1800" u="none" cap="none" strike="noStrike">
                <a:solidFill>
                  <a:srgbClr val="F2F5F1"/>
                </a:solidFill>
                <a:latin typeface="Georgia"/>
                <a:ea typeface="Georgia"/>
                <a:cs typeface="Georgia"/>
                <a:sym typeface="Georgia"/>
              </a:rPr>
              <a:t>Equipo: </a:t>
            </a:r>
            <a:r>
              <a:rPr lang="en-US" sz="1800">
                <a:solidFill>
                  <a:srgbClr val="F2F5F1"/>
                </a:solidFill>
                <a:latin typeface="Georgia"/>
                <a:ea typeface="Georgia"/>
                <a:cs typeface="Georgia"/>
                <a:sym typeface="Georgia"/>
              </a:rPr>
              <a:t>Grupo 2</a:t>
            </a:r>
            <a:endParaRPr b="0" i="0" sz="18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812800" y="4396740"/>
            <a:ext cx="10883392" cy="345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2F5F1"/>
              </a:buClr>
              <a:buSzPts val="1800"/>
              <a:buFont typeface="Georgia"/>
              <a:buNone/>
            </a:pPr>
            <a:r>
              <a:rPr b="0" i="0" lang="en-US" sz="1800" u="none" cap="none" strike="noStrike">
                <a:solidFill>
                  <a:srgbClr val="F2F5F1"/>
                </a:solidFill>
                <a:latin typeface="Georgia"/>
                <a:ea typeface="Georgia"/>
                <a:cs typeface="Georgia"/>
                <a:sym typeface="Georgia"/>
              </a:rPr>
              <a:t>Integrantes: </a:t>
            </a:r>
            <a:r>
              <a:rPr lang="en-US" sz="1800">
                <a:solidFill>
                  <a:srgbClr val="F2F5F1"/>
                </a:solidFill>
                <a:latin typeface="Georgia"/>
                <a:ea typeface="Georgia"/>
                <a:cs typeface="Georgia"/>
                <a:sym typeface="Georgia"/>
              </a:rPr>
              <a:t>Andres Felipe Sanchez </a:t>
            </a:r>
            <a:endParaRPr sz="1800">
              <a:solidFill>
                <a:srgbClr val="F2F5F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2F5F1"/>
              </a:buClr>
              <a:buSzPts val="1800"/>
              <a:buFont typeface="Georgia"/>
              <a:buNone/>
            </a:pPr>
            <a:r>
              <a:rPr lang="en-US" sz="1800">
                <a:solidFill>
                  <a:srgbClr val="F2F5F1"/>
                </a:solidFill>
                <a:latin typeface="Georgia"/>
                <a:ea typeface="Georgia"/>
                <a:cs typeface="Georgia"/>
                <a:sym typeface="Georgia"/>
              </a:rPr>
              <a:t>Manuel Vanegas Quintero</a:t>
            </a:r>
            <a:endParaRPr sz="1800">
              <a:solidFill>
                <a:srgbClr val="F2F5F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2F5F1"/>
              </a:buClr>
              <a:buSzPts val="1800"/>
              <a:buFont typeface="Georgia"/>
              <a:buNone/>
            </a:pPr>
            <a:r>
              <a:rPr lang="en-US" sz="1800">
                <a:solidFill>
                  <a:srgbClr val="F2F5F1"/>
                </a:solidFill>
                <a:latin typeface="Georgia"/>
                <a:ea typeface="Georgia"/>
                <a:cs typeface="Georgia"/>
                <a:sym typeface="Georgia"/>
              </a:rPr>
              <a:t>  Julian Felipe Porras</a:t>
            </a:r>
            <a:endParaRPr sz="1800">
              <a:solidFill>
                <a:srgbClr val="F2F5F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2F5F1"/>
              </a:buClr>
              <a:buSzPts val="1800"/>
              <a:buFont typeface="Georgia"/>
              <a:buNone/>
            </a:pPr>
            <a:r>
              <a:rPr lang="en-US" sz="1800">
                <a:solidFill>
                  <a:srgbClr val="F2F5F1"/>
                </a:solidFill>
                <a:latin typeface="Georgia"/>
                <a:ea typeface="Georgia"/>
                <a:cs typeface="Georgia"/>
                <a:sym typeface="Georgia"/>
              </a:rPr>
              <a:t> Nicolas Saldarriaga </a:t>
            </a:r>
            <a:endParaRPr b="0" i="0" sz="18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5F1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"/>
          <p:cNvSpPr txBox="1"/>
          <p:nvPr>
            <p:ph type="title"/>
          </p:nvPr>
        </p:nvSpPr>
        <p:spPr>
          <a:xfrm>
            <a:off x="812800" y="812800"/>
            <a:ext cx="10883392" cy="1031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2A26"/>
              </a:buClr>
              <a:buSzPts val="3600"/>
              <a:buFont typeface="Georgia"/>
              <a:buNone/>
            </a:pPr>
            <a:r>
              <a:rPr b="1" i="0" lang="en-US" sz="3600">
                <a:solidFill>
                  <a:srgbClr val="1E2A26"/>
                </a:solidFill>
                <a:latin typeface="Georgia"/>
                <a:ea typeface="Georgia"/>
                <a:cs typeface="Georgia"/>
                <a:sym typeface="Georgia"/>
              </a:rPr>
              <a:t>El problema: muchos platos y un botón en cada uno</a:t>
            </a:r>
            <a:endParaRPr sz="3600"/>
          </a:p>
        </p:txBody>
      </p:sp>
      <p:sp>
        <p:nvSpPr>
          <p:cNvPr id="31" name="Google Shape;31;p2"/>
          <p:cNvSpPr/>
          <p:nvPr/>
        </p:nvSpPr>
        <p:spPr>
          <a:xfrm>
            <a:off x="819150" y="2129790"/>
            <a:ext cx="3370580" cy="3705860"/>
          </a:xfrm>
          <a:prstGeom prst="roundRect">
            <a:avLst>
              <a:gd fmla="val 2826" name="adj"/>
            </a:avLst>
          </a:prstGeom>
          <a:solidFill>
            <a:srgbClr val="FFFFFF"/>
          </a:solidFill>
          <a:ln cap="flat" cmpd="sng" w="12700">
            <a:solidFill>
              <a:srgbClr val="C9D3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1076960" y="2387600"/>
            <a:ext cx="2940609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2A26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1E2A26"/>
                </a:solidFill>
                <a:latin typeface="Georgia"/>
                <a:ea typeface="Georgia"/>
                <a:cs typeface="Georgia"/>
                <a:sym typeface="Georgia"/>
              </a:rPr>
              <a:t>Situación</a:t>
            </a:r>
            <a:endParaRPr b="0" i="0" sz="18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1076960" y="2763520"/>
            <a:ext cx="2940609" cy="8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A26"/>
              </a:buClr>
              <a:buSzPts val="1500"/>
              <a:buFont typeface="Georgia"/>
              <a:buNone/>
            </a:pPr>
            <a:r>
              <a:rPr lang="en-US" sz="1500">
                <a:solidFill>
                  <a:srgbClr val="1E2A26"/>
                </a:solidFill>
                <a:latin typeface="Georgia"/>
                <a:ea typeface="Georgia"/>
                <a:cs typeface="Georgia"/>
                <a:sym typeface="Georgia"/>
              </a:rPr>
              <a:t>Se necesita poder crear, editar y eliminar platos del </a:t>
            </a:r>
            <a:r>
              <a:rPr lang="en-US" sz="1500">
                <a:solidFill>
                  <a:srgbClr val="1E2A26"/>
                </a:solidFill>
                <a:latin typeface="Georgia"/>
                <a:ea typeface="Georgia"/>
                <a:cs typeface="Georgia"/>
                <a:sym typeface="Georgia"/>
              </a:rPr>
              <a:t>menú</a:t>
            </a:r>
            <a:r>
              <a:rPr lang="en-US" sz="1500">
                <a:solidFill>
                  <a:srgbClr val="1E2A26"/>
                </a:solidFill>
                <a:latin typeface="Georgia"/>
                <a:ea typeface="Georgia"/>
                <a:cs typeface="Georgia"/>
                <a:sym typeface="Georgia"/>
              </a:rPr>
              <a:t> y una </a:t>
            </a:r>
            <a:r>
              <a:rPr lang="en-US" sz="1500">
                <a:solidFill>
                  <a:srgbClr val="1E2A26"/>
                </a:solidFill>
                <a:latin typeface="Georgia"/>
                <a:ea typeface="Georgia"/>
                <a:cs typeface="Georgia"/>
                <a:sym typeface="Georgia"/>
              </a:rPr>
              <a:t>opción</a:t>
            </a:r>
            <a:r>
              <a:rPr lang="en-US" sz="1500">
                <a:solidFill>
                  <a:srgbClr val="1E2A26"/>
                </a:solidFill>
                <a:latin typeface="Georgia"/>
                <a:ea typeface="Georgia"/>
                <a:cs typeface="Georgia"/>
                <a:sym typeface="Georgia"/>
              </a:rPr>
              <a:t> de pedir </a:t>
            </a:r>
            <a:endParaRPr b="0" i="0" sz="15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4448500" y="2203824"/>
            <a:ext cx="3370500" cy="3509400"/>
          </a:xfrm>
          <a:prstGeom prst="roundRect">
            <a:avLst>
              <a:gd fmla="val 2826" name="adj"/>
            </a:avLst>
          </a:prstGeom>
          <a:solidFill>
            <a:srgbClr val="FFFFFF"/>
          </a:solidFill>
          <a:ln cap="flat" cmpd="sng" w="12700">
            <a:solidFill>
              <a:srgbClr val="C9D3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4663440" y="2387600"/>
            <a:ext cx="2940609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2A26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1E2A26"/>
                </a:solidFill>
                <a:latin typeface="Georgia"/>
                <a:ea typeface="Georgia"/>
                <a:cs typeface="Georgia"/>
                <a:sym typeface="Georgia"/>
              </a:rPr>
              <a:t>Reto</a:t>
            </a:r>
            <a:endParaRPr b="0" i="0" sz="18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4663440" y="2763520"/>
            <a:ext cx="2940609" cy="8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A26"/>
              </a:buClr>
              <a:buSzPts val="1500"/>
              <a:buFont typeface="Georgia"/>
              <a:buNone/>
            </a:pPr>
            <a:r>
              <a:rPr b="0" i="0" lang="en-US" sz="1500" u="none" cap="none" strike="noStrike">
                <a:solidFill>
                  <a:srgbClr val="1E2A26"/>
                </a:solidFill>
                <a:latin typeface="Georgia"/>
                <a:ea typeface="Georgia"/>
                <a:cs typeface="Georgia"/>
                <a:sym typeface="Georgia"/>
              </a:rPr>
              <a:t>Al hacer clic en un botón hay que llegar a S</a:t>
            </a:r>
            <a:r>
              <a:rPr lang="en-US" sz="1500">
                <a:solidFill>
                  <a:srgbClr val="1E2A26"/>
                </a:solidFill>
                <a:latin typeface="Georgia"/>
                <a:ea typeface="Georgia"/>
                <a:cs typeface="Georgia"/>
                <a:sym typeface="Georgia"/>
              </a:rPr>
              <a:t>u</a:t>
            </a:r>
            <a:r>
              <a:rPr b="0" i="0" lang="en-US" sz="1500" u="none" cap="none" strike="noStrike">
                <a:solidFill>
                  <a:srgbClr val="1E2A26"/>
                </a:solidFill>
                <a:latin typeface="Georgia"/>
                <a:ea typeface="Georgia"/>
                <a:cs typeface="Georgia"/>
                <a:sym typeface="Georgia"/>
              </a:rPr>
              <a:t> plato, no a otro, sin ponerle un id a cada fila.</a:t>
            </a:r>
            <a:endParaRPr b="0" i="0" sz="15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7995285" y="2132965"/>
            <a:ext cx="3374400" cy="3699600"/>
          </a:xfrm>
          <a:prstGeom prst="roundRect">
            <a:avLst>
              <a:gd fmla="val 2729" name="adj"/>
            </a:avLst>
          </a:prstGeom>
          <a:noFill/>
          <a:ln cap="flat" cmpd="sng" w="19050">
            <a:solidFill>
              <a:srgbClr val="2F5D5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232725" lIns="189900" spcFirstLastPara="1" rIns="189900" wrap="square" tIns="232725">
            <a:norm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F5D50"/>
              </a:buClr>
              <a:buSzPts val="1500"/>
              <a:buFont typeface="Georgia"/>
              <a:buNone/>
            </a:pPr>
            <a:r>
              <a:rPr b="0" i="0" lang="en-US" sz="1500" u="none" cap="none" strike="noStrike">
                <a:solidFill>
                  <a:srgbClr val="2F5D50"/>
                </a:solidFill>
                <a:latin typeface="Georgia"/>
                <a:ea typeface="Georgia"/>
                <a:cs typeface="Georgia"/>
                <a:sym typeface="Georgia"/>
              </a:rPr>
              <a:t>[Pega aquí una captura de la página]</a:t>
            </a:r>
            <a:endParaRPr b="0" i="0" sz="15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38" name="Google Shape;38;p2" title="Captura de pantalla 2026-10-20 07524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95275" y="1919000"/>
            <a:ext cx="3374400" cy="391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A26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"/>
          <p:cNvSpPr txBox="1"/>
          <p:nvPr>
            <p:ph type="title"/>
          </p:nvPr>
        </p:nvSpPr>
        <p:spPr>
          <a:xfrm>
            <a:off x="812800" y="812800"/>
            <a:ext cx="11379200" cy="528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2F5F1"/>
              </a:buClr>
              <a:buSzPts val="3600"/>
              <a:buFont typeface="Georgia"/>
              <a:buNone/>
            </a:pPr>
            <a:r>
              <a:rPr b="1" i="0" lang="en-US" sz="3600">
                <a:solidFill>
                  <a:srgbClr val="F2F5F1"/>
                </a:solidFill>
                <a:latin typeface="Georgia"/>
                <a:ea typeface="Georgia"/>
                <a:cs typeface="Georgia"/>
                <a:sym typeface="Georgia"/>
              </a:rPr>
              <a:t>El concepto: el DOM es un árbol genealógico</a:t>
            </a:r>
            <a:endParaRPr sz="3600"/>
          </a:p>
        </p:txBody>
      </p:sp>
      <p:sp>
        <p:nvSpPr>
          <p:cNvPr id="45" name="Google Shape;45;p3"/>
          <p:cNvSpPr/>
          <p:nvPr/>
        </p:nvSpPr>
        <p:spPr>
          <a:xfrm>
            <a:off x="4545568" y="1620520"/>
            <a:ext cx="3100784" cy="556260"/>
          </a:xfrm>
          <a:prstGeom prst="roundRect">
            <a:avLst>
              <a:gd fmla="val 13699" name="adj"/>
            </a:avLst>
          </a:prstGeom>
          <a:solidFill>
            <a:srgbClr val="E0A526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A26"/>
              </a:buClr>
              <a:buSzPts val="1700"/>
              <a:buFont typeface="Georgia"/>
              <a:buNone/>
            </a:pPr>
            <a:r>
              <a:rPr b="1" i="0" lang="en-US" sz="1700" u="none" cap="none" strike="noStrike">
                <a:solidFill>
                  <a:srgbClr val="1E2A26"/>
                </a:solidFill>
                <a:latin typeface="Georgia"/>
                <a:ea typeface="Georgia"/>
                <a:cs typeface="Georgia"/>
                <a:sym typeface="Georgia"/>
              </a:rPr>
              <a:t>li.plato · la fila (padre)</a:t>
            </a:r>
            <a:endParaRPr b="0" i="0" sz="17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3701971" y="2354580"/>
            <a:ext cx="1568132" cy="520700"/>
          </a:xfrm>
          <a:prstGeom prst="roundRect">
            <a:avLst>
              <a:gd fmla="val 14634" name="adj"/>
            </a:avLst>
          </a:prstGeom>
          <a:solidFill>
            <a:srgbClr val="2F5D50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2F5F1"/>
              </a:buClr>
              <a:buSzPts val="1500"/>
              <a:buFont typeface="Georgia"/>
              <a:buNone/>
            </a:pPr>
            <a:r>
              <a:rPr b="0" i="0" lang="en-US" sz="1500" u="none" cap="none" strike="noStrike">
                <a:solidFill>
                  <a:srgbClr val="F2F5F1"/>
                </a:solidFill>
                <a:latin typeface="Georgia"/>
                <a:ea typeface="Georgia"/>
                <a:cs typeface="Georgia"/>
                <a:sym typeface="Georgia"/>
              </a:rPr>
              <a:t>span.nombre</a:t>
            </a:r>
            <a:endParaRPr b="0" i="0" sz="15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5422503" y="2354580"/>
            <a:ext cx="1432243" cy="520700"/>
          </a:xfrm>
          <a:prstGeom prst="roundRect">
            <a:avLst>
              <a:gd fmla="val 14634" name="adj"/>
            </a:avLst>
          </a:prstGeom>
          <a:solidFill>
            <a:srgbClr val="2F5D50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2F5F1"/>
              </a:buClr>
              <a:buSzPts val="1500"/>
              <a:buFont typeface="Georgia"/>
              <a:buNone/>
            </a:pPr>
            <a:r>
              <a:rPr b="0" i="0" lang="en-US" sz="1500" u="none" cap="none" strike="noStrike">
                <a:solidFill>
                  <a:srgbClr val="F2F5F1"/>
                </a:solidFill>
                <a:latin typeface="Georgia"/>
                <a:ea typeface="Georgia"/>
                <a:cs typeface="Georgia"/>
                <a:sym typeface="Georgia"/>
              </a:rPr>
              <a:t>span.precio</a:t>
            </a:r>
            <a:endParaRPr b="0" i="0" sz="15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7007146" y="2354580"/>
            <a:ext cx="1482884" cy="520700"/>
          </a:xfrm>
          <a:prstGeom prst="roundRect">
            <a:avLst>
              <a:gd fmla="val 14634" name="adj"/>
            </a:avLst>
          </a:prstGeom>
          <a:solidFill>
            <a:srgbClr val="2F5D50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2F5F1"/>
              </a:buClr>
              <a:buSzPts val="1500"/>
              <a:buFont typeface="Georgia"/>
              <a:buNone/>
            </a:pPr>
            <a:r>
              <a:rPr b="0" i="0" lang="en-US" sz="1500" u="none" cap="none" strike="noStrike">
                <a:solidFill>
                  <a:srgbClr val="F2F5F1"/>
                </a:solidFill>
                <a:latin typeface="Georgia"/>
                <a:ea typeface="Georgia"/>
                <a:cs typeface="Georgia"/>
                <a:sym typeface="Georgia"/>
              </a:rPr>
              <a:t>div.acciones</a:t>
            </a:r>
            <a:endParaRPr b="0" i="0" sz="15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4583621" y="3053080"/>
            <a:ext cx="3024759" cy="256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9D3CC"/>
              </a:buClr>
              <a:buSzPts val="1300"/>
              <a:buFont typeface="Georgia"/>
              <a:buNone/>
            </a:pPr>
            <a:r>
              <a:rPr b="0" i="0" lang="en-US" sz="1300" u="none" cap="none" strike="noStrike">
                <a:solidFill>
                  <a:srgbClr val="C9D3CC"/>
                </a:solidFill>
                <a:latin typeface="Georgia"/>
                <a:ea typeface="Georgia"/>
                <a:cs typeface="Georgia"/>
                <a:sym typeface="Georgia"/>
              </a:rPr>
              <a:t>Hijos de la fila y hermanos entre sí</a:t>
            </a:r>
            <a:endParaRPr b="0" i="0" sz="13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3363198" y="3462020"/>
            <a:ext cx="5465604" cy="520700"/>
          </a:xfrm>
          <a:prstGeom prst="roundRect">
            <a:avLst>
              <a:gd fmla="val 14634" name="adj"/>
            </a:avLst>
          </a:prstGeom>
          <a:solidFill>
            <a:srgbClr val="C9D3CC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A26"/>
              </a:buClr>
              <a:buSzPts val="1500"/>
              <a:buFont typeface="Georgia"/>
              <a:buNone/>
            </a:pPr>
            <a:r>
              <a:rPr b="0" i="0" lang="en-US" sz="1500" u="none" cap="none" strike="noStrike">
                <a:solidFill>
                  <a:srgbClr val="1E2A26"/>
                </a:solidFill>
                <a:latin typeface="Georgia"/>
                <a:ea typeface="Georgia"/>
                <a:cs typeface="Georgia"/>
                <a:sym typeface="Georgia"/>
              </a:rPr>
              <a:t>button.btn-pedir · button.btn-editar · button.btn-eliminar</a:t>
            </a:r>
            <a:endParaRPr b="0" i="0" sz="15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3564541" y="4160520"/>
            <a:ext cx="5062918" cy="256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9D3CC"/>
              </a:buClr>
              <a:buSzPts val="1300"/>
              <a:buFont typeface="Georgia"/>
              <a:buNone/>
            </a:pPr>
            <a:r>
              <a:rPr b="0" i="0" lang="en-US" sz="1300" u="none" cap="none" strike="noStrike">
                <a:solidFill>
                  <a:srgbClr val="C9D3CC"/>
                </a:solidFill>
                <a:latin typeface="Georgia"/>
                <a:ea typeface="Georgia"/>
                <a:cs typeface="Georgia"/>
                <a:sym typeface="Georgia"/>
              </a:rPr>
              <a:t>Hijos de div.acciones. Desde el botón, closest sube a la fila</a:t>
            </a:r>
            <a:endParaRPr b="0" i="0" sz="13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5F1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"/>
          <p:cNvSpPr txBox="1"/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2A26"/>
              </a:buClr>
              <a:buSzPts val="3600"/>
              <a:buFont typeface="Georgia"/>
              <a:buNone/>
            </a:pPr>
            <a:r>
              <a:rPr b="1" i="0" lang="en-US" sz="3600">
                <a:solidFill>
                  <a:srgbClr val="1E2A26"/>
                </a:solidFill>
                <a:latin typeface="Georgia"/>
                <a:ea typeface="Georgia"/>
                <a:cs typeface="Georgia"/>
                <a:sym typeface="Georgia"/>
              </a:rPr>
              <a:t>Las propiedades que usamos</a:t>
            </a:r>
            <a:endParaRPr sz="3600"/>
          </a:p>
        </p:txBody>
      </p:sp>
      <p:graphicFrame>
        <p:nvGraphicFramePr>
          <p:cNvPr id="58" name="Google Shape;58;p4"/>
          <p:cNvGraphicFramePr/>
          <p:nvPr/>
        </p:nvGraphicFramePr>
        <p:xfrm>
          <a:off x="822960" y="16306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{76010F1E-61B9-4BB0-9B62-2EA467E1C60E}</a:tableStyleId>
              </a:tblPr>
              <a:tblGrid>
                <a:gridCol w="3518750"/>
                <a:gridCol w="3518750"/>
                <a:gridCol w="3518750"/>
              </a:tblGrid>
              <a:tr h="383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26"/>
                        </a:buClr>
                        <a:buSzPts val="1400"/>
                        <a:buFont typeface="Georgia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E2A26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Propiedad</a:t>
                      </a:r>
                      <a:endParaRPr sz="14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1C4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3B5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1C4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3B5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E3D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26"/>
                        </a:buClr>
                        <a:buSzPts val="1400"/>
                        <a:buFont typeface="Georgia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E2A26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Línea real de script.js</a:t>
                      </a:r>
                      <a:endParaRPr sz="14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B3B5B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3B5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1C4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3B5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E3D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26"/>
                        </a:buClr>
                        <a:buSzPts val="1400"/>
                        <a:buFont typeface="Georgia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E2A26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Qué hace</a:t>
                      </a:r>
                      <a:endParaRPr sz="14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B3B5B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3B5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1C4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3B5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E3DF"/>
                    </a:solidFill>
                  </a:tcPr>
                </a:tc>
              </a:tr>
              <a:tr h="383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26"/>
                        </a:buClr>
                        <a:buSzPts val="1400"/>
                        <a:buFont typeface="Georgia"/>
                        <a:buNone/>
                      </a:pPr>
                      <a:r>
                        <a:rPr lang="en-US" sz="1400" u="none" cap="none" strike="noStrike">
                          <a:solidFill>
                            <a:srgbClr val="1E2A26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closest</a:t>
                      </a:r>
                      <a:endParaRPr sz="14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1C4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1C4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3B5B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1C4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26"/>
                        </a:buClr>
                        <a:buSzPts val="1400"/>
                        <a:buFont typeface="Georgia"/>
                        <a:buNone/>
                      </a:pPr>
                      <a:r>
                        <a:rPr lang="en-US" sz="1400" u="none" cap="none" strike="noStrike">
                          <a:solidFill>
                            <a:srgbClr val="1E2A26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boton.closest(".plato")</a:t>
                      </a:r>
                      <a:endParaRPr sz="14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1C4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1C4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3B5B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1C4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26"/>
                        </a:buClr>
                        <a:buSzPts val="1400"/>
                        <a:buFont typeface="Georgia"/>
                        <a:buNone/>
                      </a:pPr>
                      <a:r>
                        <a:rPr lang="en-US" sz="1400" u="none" cap="none" strike="noStrike">
                          <a:solidFill>
                            <a:srgbClr val="1E2A26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Sube del botón a su fila</a:t>
                      </a:r>
                      <a:endParaRPr sz="14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1C4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1C4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3B5B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1C4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3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26"/>
                        </a:buClr>
                        <a:buSzPts val="1400"/>
                        <a:buFont typeface="Georgia"/>
                        <a:buNone/>
                      </a:pPr>
                      <a:r>
                        <a:rPr lang="en-US" sz="1400" u="none" cap="none" strike="noStrike">
                          <a:solidFill>
                            <a:srgbClr val="1E2A26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querySelector</a:t>
                      </a:r>
                      <a:endParaRPr sz="14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1C4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1C4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1C4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1C4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26"/>
                        </a:buClr>
                        <a:buSzPts val="1400"/>
                        <a:buFont typeface="Georgia"/>
                        <a:buNone/>
                      </a:pPr>
                      <a:r>
                        <a:rPr lang="en-US" sz="1400" u="none" cap="none" strike="noStrike">
                          <a:solidFill>
                            <a:srgbClr val="1E2A26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fila.querySelector(".nombre")</a:t>
                      </a:r>
                      <a:endParaRPr sz="14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1C4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1C4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1C4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1C4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26"/>
                        </a:buClr>
                        <a:buSzPts val="1400"/>
                        <a:buFont typeface="Georgia"/>
                        <a:buNone/>
                      </a:pPr>
                      <a:r>
                        <a:rPr lang="en-US" sz="1400" u="none" cap="none" strike="noStrike">
                          <a:solidFill>
                            <a:srgbClr val="1E2A26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Baja de la fila a su dato</a:t>
                      </a:r>
                      <a:endParaRPr sz="14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1C4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1C4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1C4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1C4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3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26"/>
                        </a:buClr>
                        <a:buSzPts val="1400"/>
                        <a:buFont typeface="Georgia"/>
                        <a:buNone/>
                      </a:pPr>
                      <a:r>
                        <a:rPr lang="en-US" sz="1400" u="none" cap="none" strike="noStrike">
                          <a:solidFill>
                            <a:srgbClr val="1E2A26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children</a:t>
                      </a:r>
                      <a:endParaRPr sz="14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1C4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1C4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1C4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1C4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26"/>
                        </a:buClr>
                        <a:buSzPts val="1400"/>
                        <a:buFont typeface="Georgia"/>
                        <a:buNone/>
                      </a:pPr>
                      <a:r>
                        <a:rPr lang="en-US" sz="1400" u="none" cap="none" strike="noStrike">
                          <a:solidFill>
                            <a:srgbClr val="1E2A26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listaPedido.children</a:t>
                      </a:r>
                      <a:endParaRPr sz="14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1C4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1C4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1C4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1C4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26"/>
                        </a:buClr>
                        <a:buSzPts val="1400"/>
                        <a:buFont typeface="Georgia"/>
                        <a:buNone/>
                      </a:pPr>
                      <a:r>
                        <a:rPr lang="en-US" sz="1400" u="none" cap="none" strike="noStrike">
                          <a:solidFill>
                            <a:srgbClr val="1E2A26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Recorre las líneas del pedido</a:t>
                      </a:r>
                      <a:endParaRPr sz="14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1C4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1C4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1C4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1C4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5F1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6"/>
          <p:cNvSpPr txBox="1"/>
          <p:nvPr>
            <p:ph type="title"/>
          </p:nvPr>
        </p:nvSpPr>
        <p:spPr>
          <a:xfrm>
            <a:off x="449450" y="233725"/>
            <a:ext cx="10883400" cy="5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2A26"/>
              </a:buClr>
              <a:buSzPct val="100000"/>
              <a:buFont typeface="Georgia"/>
              <a:buNone/>
            </a:pPr>
            <a:r>
              <a:rPr b="1" i="0" lang="en-US" sz="3600">
                <a:solidFill>
                  <a:srgbClr val="1E2A26"/>
                </a:solidFill>
                <a:latin typeface="Georgia"/>
                <a:ea typeface="Georgia"/>
                <a:cs typeface="Georgia"/>
                <a:sym typeface="Georgia"/>
              </a:rPr>
              <a:t>Cómo usamos la IA</a:t>
            </a:r>
            <a:endParaRPr sz="3600"/>
          </a:p>
        </p:txBody>
      </p:sp>
      <p:sp>
        <p:nvSpPr>
          <p:cNvPr id="65" name="Google Shape;65;p6"/>
          <p:cNvSpPr/>
          <p:nvPr/>
        </p:nvSpPr>
        <p:spPr>
          <a:xfrm>
            <a:off x="875725" y="1341125"/>
            <a:ext cx="10173000" cy="5394000"/>
          </a:xfrm>
          <a:prstGeom prst="roundRect">
            <a:avLst>
              <a:gd fmla="val 2263" name="adj"/>
            </a:avLst>
          </a:prstGeom>
          <a:solidFill>
            <a:srgbClr val="FFFFFF"/>
          </a:solidFill>
          <a:ln cap="flat" cmpd="sng" w="12700">
            <a:solidFill>
              <a:srgbClr val="C9D3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1020210" y="1555432"/>
            <a:ext cx="47928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2A26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1E2A26"/>
                </a:solidFill>
                <a:latin typeface="Georgia"/>
                <a:ea typeface="Georgia"/>
                <a:cs typeface="Georgia"/>
                <a:sym typeface="Georgia"/>
              </a:rPr>
              <a:t>T</a:t>
            </a:r>
            <a:r>
              <a:rPr b="1" lang="en-US" sz="1800">
                <a:solidFill>
                  <a:srgbClr val="1E2A26"/>
                </a:solidFill>
                <a:latin typeface="Georgia"/>
                <a:ea typeface="Georgia"/>
                <a:cs typeface="Georgia"/>
                <a:sym typeface="Georgia"/>
              </a:rPr>
              <a:t>res</a:t>
            </a:r>
            <a:r>
              <a:rPr b="1" i="0" lang="en-US" sz="1800" u="none" cap="none" strike="noStrike">
                <a:solidFill>
                  <a:srgbClr val="1E2A26"/>
                </a:solidFill>
                <a:latin typeface="Georgia"/>
                <a:ea typeface="Georgia"/>
                <a:cs typeface="Georgia"/>
                <a:sym typeface="Georgia"/>
              </a:rPr>
              <a:t> prompts</a:t>
            </a:r>
            <a:endParaRPr b="1" i="0" sz="1800" u="none" cap="none" strike="noStrike">
              <a:solidFill>
                <a:srgbClr val="1E2A26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2A26"/>
              </a:buClr>
              <a:buSzPts val="1800"/>
              <a:buFont typeface="Georgia"/>
              <a:buNone/>
            </a:pPr>
            <a:r>
              <a:t/>
            </a:r>
            <a:endParaRPr b="1" sz="1800">
              <a:solidFill>
                <a:srgbClr val="1E2A26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2A26"/>
              </a:buClr>
              <a:buSzPts val="1800"/>
              <a:buFont typeface="Georgia"/>
              <a:buNone/>
            </a:pPr>
            <a:r>
              <a:t/>
            </a:r>
            <a:endParaRPr b="1" sz="1800">
              <a:solidFill>
                <a:srgbClr val="1E2A26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7" name="Google Shape;67;p6"/>
          <p:cNvSpPr/>
          <p:nvPr/>
        </p:nvSpPr>
        <p:spPr>
          <a:xfrm>
            <a:off x="1167825" y="1945950"/>
            <a:ext cx="4721400" cy="45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  <a:t>1 Somos estudiantes de desarrollo de software con nivel básico. Explica los siguientes tres temas con la analogía de un árbol genealógico y un ejemplo corto de cada propiedad:</a:t>
            </a:r>
            <a:endParaRPr sz="1100">
              <a:solidFill>
                <a:srgbClr val="1F1F1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F1F1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100"/>
              <a:buFont typeface="Google Sans"/>
              <a:buAutoNum type="arabicPeriod"/>
            </a:pPr>
            <a:r>
              <a:rPr lang="en-US" sz="1100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  <a:t>¿Qué es DOM  Traversing?</a:t>
            </a:r>
            <a:endParaRPr sz="1100">
              <a:solidFill>
                <a:srgbClr val="1F1F1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100"/>
              <a:buFont typeface="Google Sans"/>
              <a:buAutoNum type="arabicPeriod"/>
            </a:pPr>
            <a:r>
              <a:rPr lang="en-US" sz="1100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  <a:t>¿Cómo funciona?</a:t>
            </a:r>
            <a:endParaRPr sz="1100">
              <a:solidFill>
                <a:srgbClr val="1F1F1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100"/>
              <a:buFont typeface="Google Sans"/>
              <a:buAutoNum type="arabicPeriod"/>
            </a:pPr>
            <a:r>
              <a:rPr lang="en-US" sz="1100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  <a:t>¿Cuándo lo aplico?</a:t>
            </a:r>
            <a:endParaRPr sz="1100">
              <a:solidFill>
                <a:srgbClr val="1F1F1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F1F1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F1F1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  <a:t>2 Somos estudiantes de desarrollo de software con nivel básico. Vamos a construir el proyecto 2 explicado en el documento adjunto (Menú de restaurante) con HTML, CSS y JavaScript puro, en tres archivos: index.html, style.css y script.js.</a:t>
            </a:r>
            <a:endParaRPr sz="1100">
              <a:solidFill>
                <a:srgbClr val="1F1F1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F1F1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  <a:t>Reglas:</a:t>
            </a:r>
            <a:endParaRPr sz="1100">
              <a:solidFill>
                <a:srgbClr val="1F1F1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  <a:t>Sin librerías ni frameworks.</a:t>
            </a:r>
            <a:endParaRPr sz="1100">
              <a:solidFill>
                <a:srgbClr val="1F1F1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  <a:t>Comentarios en español en las líneas importantes.</a:t>
            </a:r>
            <a:endParaRPr sz="1100">
              <a:solidFill>
                <a:srgbClr val="1F1F1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  <a:t>Un solo addEventListener en el contenedor (delegación de eventos).</a:t>
            </a:r>
            <a:endParaRPr sz="1100">
              <a:solidFill>
                <a:srgbClr val="1F1F1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  <a:t>textContent y no innerHTML para el texto del usuario.</a:t>
            </a:r>
            <a:endParaRPr sz="1100">
              <a:solidFill>
                <a:srgbClr val="1F1F1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  <a:t>Cada fila debe tener CRUD: crear, mostrar, editar y eliminar.</a:t>
            </a:r>
            <a:endParaRPr sz="1100">
              <a:solidFill>
                <a:srgbClr val="1F1F1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  <a:t>Usa DOM Traversing: closest, querySelector.</a:t>
            </a:r>
            <a:endParaRPr sz="1100">
              <a:solidFill>
                <a:srgbClr val="1F1F1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  <a:t>Antes del código, explícame en 3 líneas qué vas a hacer.</a:t>
            </a:r>
            <a:endParaRPr sz="1100">
              <a:solidFill>
                <a:srgbClr val="1F1F1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F1F1F"/>
                </a:solidFill>
                <a:latin typeface="Google Sans"/>
                <a:ea typeface="Google Sans"/>
                <a:cs typeface="Google Sans"/>
                <a:sym typeface="Google Sans"/>
              </a:rPr>
              <a:t>Responde solo la etapa que te pida. Etapa 1: HTML y CSS</a:t>
            </a:r>
            <a:endParaRPr sz="1100">
              <a:solidFill>
                <a:srgbClr val="1F1F1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F1F1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8" name="Google Shape;68;p6"/>
          <p:cNvSpPr txBox="1"/>
          <p:nvPr/>
        </p:nvSpPr>
        <p:spPr>
          <a:xfrm>
            <a:off x="6064150" y="2425200"/>
            <a:ext cx="4792800" cy="35811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2F5F1"/>
                </a:solidFill>
                <a:latin typeface="Georgia"/>
                <a:ea typeface="Georgia"/>
                <a:cs typeface="Georgia"/>
                <a:sym typeface="Georgia"/>
              </a:rPr>
              <a:t>3 Crea una presentación de 7 diapositivas sobre mi proyecto web y el uso de Traversing del DOM en JavaScript.</a:t>
            </a:r>
            <a:endParaRPr sz="1300">
              <a:solidFill>
                <a:srgbClr val="F2F5F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F2F5F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2F5F1"/>
                </a:solidFill>
                <a:latin typeface="Georgia"/>
                <a:ea typeface="Georgia"/>
                <a:cs typeface="Georgia"/>
                <a:sym typeface="Georgia"/>
              </a:rPr>
              <a:t>Incluye:</a:t>
            </a:r>
            <a:endParaRPr sz="1300">
              <a:solidFill>
                <a:srgbClr val="F2F5F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F2F5F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2F5F1"/>
                </a:solidFill>
                <a:latin typeface="Georgia"/>
                <a:ea typeface="Georgia"/>
                <a:cs typeface="Georgia"/>
                <a:sym typeface="Georgia"/>
              </a:rPr>
              <a:t>1. Portada con nombre del equipo, integrantes y proyecto.</a:t>
            </a:r>
            <a:endParaRPr sz="1300">
              <a:solidFill>
                <a:srgbClr val="F2F5F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2F5F1"/>
                </a:solidFill>
                <a:latin typeface="Georgia"/>
                <a:ea typeface="Georgia"/>
                <a:cs typeface="Georgia"/>
                <a:sym typeface="Georgia"/>
              </a:rPr>
              <a:t>2. Problema que resuelve el proyecto e imagen de la página.</a:t>
            </a:r>
            <a:endParaRPr sz="1300">
              <a:solidFill>
                <a:srgbClr val="F2F5F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2F5F1"/>
                </a:solidFill>
                <a:latin typeface="Georgia"/>
                <a:ea typeface="Georgia"/>
                <a:cs typeface="Georgia"/>
                <a:sym typeface="Georgia"/>
              </a:rPr>
              <a:t>3. Explicación de Traversing con un árbol DOM que muestre padres, hijos y hermanos con colores.</a:t>
            </a:r>
            <a:endParaRPr sz="1300">
              <a:solidFill>
                <a:srgbClr val="F2F5F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2F5F1"/>
                </a:solidFill>
                <a:latin typeface="Georgia"/>
                <a:ea typeface="Georgia"/>
                <a:cs typeface="Georgia"/>
                <a:sym typeface="Georgia"/>
              </a:rPr>
              <a:t>4. Propiedades utilizadas con ejemplos reales de mi archivo "script.js".</a:t>
            </a:r>
            <a:endParaRPr sz="1300">
              <a:solidFill>
                <a:srgbClr val="F2F5F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2F5F1"/>
                </a:solidFill>
                <a:latin typeface="Georgia"/>
                <a:ea typeface="Georgia"/>
                <a:cs typeface="Georgia"/>
                <a:sym typeface="Georgia"/>
              </a:rPr>
              <a:t>5. Demostración de la página funcionando y un caso límite.</a:t>
            </a:r>
            <a:endParaRPr sz="1300">
              <a:solidFill>
                <a:srgbClr val="F2F5F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2F5F1"/>
                </a:solidFill>
                <a:latin typeface="Georgia"/>
                <a:ea typeface="Georgia"/>
                <a:cs typeface="Georgia"/>
                <a:sym typeface="Georgia"/>
              </a:rPr>
              <a:t>6. Uso de IA: 3 prompts, un error de la IA y cómo lo corregimos.</a:t>
            </a:r>
            <a:endParaRPr sz="1300">
              <a:solidFill>
                <a:srgbClr val="F2F5F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2F5F1"/>
                </a:solidFill>
                <a:latin typeface="Georgia"/>
                <a:ea typeface="Georgia"/>
                <a:cs typeface="Georgia"/>
                <a:sym typeface="Georgia"/>
              </a:rPr>
              <a:t>7. Aprendizajes: dificultades y mejoras futuras.</a:t>
            </a:r>
            <a:endParaRPr sz="1300">
              <a:solidFill>
                <a:srgbClr val="F2F5F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2F5F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2F5F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A26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7"/>
          <p:cNvSpPr txBox="1"/>
          <p:nvPr>
            <p:ph type="title"/>
          </p:nvPr>
        </p:nvSpPr>
        <p:spPr>
          <a:xfrm>
            <a:off x="812800" y="1826261"/>
            <a:ext cx="10883392" cy="528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2F5F1"/>
              </a:buClr>
              <a:buSzPts val="3600"/>
              <a:buFont typeface="Georgia"/>
              <a:buNone/>
            </a:pPr>
            <a:r>
              <a:rPr b="1" i="0" lang="en-US" sz="3600">
                <a:solidFill>
                  <a:srgbClr val="F2F5F1"/>
                </a:solidFill>
                <a:latin typeface="Georgia"/>
                <a:ea typeface="Georgia"/>
                <a:cs typeface="Georgia"/>
                <a:sym typeface="Georgia"/>
              </a:rPr>
              <a:t>Aprendizajes</a:t>
            </a:r>
            <a:endParaRPr sz="3600"/>
          </a:p>
        </p:txBody>
      </p:sp>
      <p:sp>
        <p:nvSpPr>
          <p:cNvPr id="75" name="Google Shape;75;p7"/>
          <p:cNvSpPr/>
          <p:nvPr/>
        </p:nvSpPr>
        <p:spPr>
          <a:xfrm>
            <a:off x="812800" y="2633982"/>
            <a:ext cx="10883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0A526"/>
              </a:buClr>
              <a:buSzPts val="2000"/>
              <a:buFont typeface="Georgia"/>
              <a:buNone/>
            </a:pPr>
            <a:r>
              <a:rPr b="0" i="0" lang="en-US" sz="2000" u="none" cap="none" strike="noStrike">
                <a:solidFill>
                  <a:srgbClr val="E0A526"/>
                </a:solidFill>
                <a:latin typeface="Georgia"/>
                <a:ea typeface="Georgia"/>
                <a:cs typeface="Georgia"/>
                <a:sym typeface="Georgia"/>
              </a:rPr>
              <a:t>Lo más difícil</a:t>
            </a:r>
            <a:endParaRPr b="0" i="0" sz="20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6" name="Google Shape;76;p7"/>
          <p:cNvSpPr/>
          <p:nvPr/>
        </p:nvSpPr>
        <p:spPr>
          <a:xfrm>
            <a:off x="812800" y="3294382"/>
            <a:ext cx="108834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2F5F1"/>
              </a:buClr>
              <a:buSzPts val="1600"/>
              <a:buFont typeface="Georgia"/>
              <a:buNone/>
            </a:pPr>
            <a:r>
              <a:rPr lang="en-US" sz="1600">
                <a:solidFill>
                  <a:srgbClr val="F2F5F1"/>
                </a:solidFill>
                <a:latin typeface="Georgia"/>
                <a:ea typeface="Georgia"/>
                <a:cs typeface="Georgia"/>
                <a:sym typeface="Georgia"/>
              </a:rPr>
              <a:t>En general el trabajo en equipo y ponernos de acuerdo con que ia se </a:t>
            </a:r>
            <a:r>
              <a:rPr lang="en-US" sz="1600">
                <a:solidFill>
                  <a:srgbClr val="F2F5F1"/>
                </a:solidFill>
                <a:latin typeface="Georgia"/>
                <a:ea typeface="Georgia"/>
                <a:cs typeface="Georgia"/>
                <a:sym typeface="Georgia"/>
              </a:rPr>
              <a:t>realizaria</a:t>
            </a:r>
            <a:r>
              <a:rPr lang="en-US" sz="1600">
                <a:solidFill>
                  <a:srgbClr val="F2F5F1"/>
                </a:solidFill>
                <a:latin typeface="Georgia"/>
                <a:ea typeface="Georgia"/>
                <a:cs typeface="Georgia"/>
                <a:sym typeface="Georgia"/>
              </a:rPr>
              <a:t> la actividad</a:t>
            </a:r>
            <a:endParaRPr b="0" i="0" sz="16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7" name="Google Shape;77;p7"/>
          <p:cNvSpPr/>
          <p:nvPr/>
        </p:nvSpPr>
        <p:spPr>
          <a:xfrm>
            <a:off x="812800" y="3883661"/>
            <a:ext cx="10883392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0A526"/>
              </a:buClr>
              <a:buSzPts val="2000"/>
              <a:buFont typeface="Georgia"/>
              <a:buNone/>
            </a:pPr>
            <a:r>
              <a:rPr b="0" i="0" lang="en-US" sz="2000" u="none" cap="none" strike="noStrike">
                <a:solidFill>
                  <a:srgbClr val="E0A526"/>
                </a:solidFill>
                <a:latin typeface="Georgia"/>
                <a:ea typeface="Georgia"/>
                <a:cs typeface="Georgia"/>
                <a:sym typeface="Georgia"/>
              </a:rPr>
              <a:t>Qué haríamos distinto</a:t>
            </a:r>
            <a:endParaRPr b="0" i="0" sz="20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8" name="Google Shape;78;p7"/>
          <p:cNvSpPr/>
          <p:nvPr/>
        </p:nvSpPr>
        <p:spPr>
          <a:xfrm>
            <a:off x="654300" y="4412286"/>
            <a:ext cx="108834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2F5F1"/>
              </a:buClr>
              <a:buSzPts val="1600"/>
              <a:buFont typeface="Georgia"/>
              <a:buNone/>
            </a:pPr>
            <a:r>
              <a:rPr lang="en-US" sz="1600">
                <a:solidFill>
                  <a:srgbClr val="F2F5F1"/>
                </a:solidFill>
                <a:latin typeface="Georgia"/>
                <a:ea typeface="Georgia"/>
                <a:cs typeface="Georgia"/>
                <a:sym typeface="Georgia"/>
              </a:rPr>
              <a:t>Tener un poco </a:t>
            </a:r>
            <a:r>
              <a:rPr lang="en-US" sz="1600">
                <a:solidFill>
                  <a:srgbClr val="F2F5F1"/>
                </a:solidFill>
                <a:latin typeface="Georgia"/>
                <a:ea typeface="Georgia"/>
                <a:cs typeface="Georgia"/>
                <a:sym typeface="Georgia"/>
              </a:rPr>
              <a:t>más</a:t>
            </a:r>
            <a:r>
              <a:rPr lang="en-US" sz="1600">
                <a:solidFill>
                  <a:srgbClr val="F2F5F1"/>
                </a:solidFill>
                <a:latin typeface="Georgia"/>
                <a:ea typeface="Georgia"/>
                <a:cs typeface="Georgia"/>
                <a:sym typeface="Georgia"/>
              </a:rPr>
              <a:t> de </a:t>
            </a:r>
            <a:r>
              <a:rPr lang="en-US" sz="1600">
                <a:solidFill>
                  <a:srgbClr val="F2F5F1"/>
                </a:solidFill>
                <a:latin typeface="Georgia"/>
                <a:ea typeface="Georgia"/>
                <a:cs typeface="Georgia"/>
                <a:sym typeface="Georgia"/>
              </a:rPr>
              <a:t>comunicación </a:t>
            </a:r>
            <a:endParaRPr b="0" i="0" sz="16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enú de restaurante - DOM Traversing">
  <a:themeElements>
    <a:clrScheme name="Menú de restaurante - DOM Traversing">
      <a:dk1>
        <a:srgbClr val="1E2A26"/>
      </a:dk1>
      <a:lt1>
        <a:srgbClr val="F2F5F1"/>
      </a:lt1>
      <a:dk2>
        <a:srgbClr val="333E3A"/>
      </a:dk2>
      <a:lt2>
        <a:srgbClr val="BDC2BE"/>
      </a:lt2>
      <a:accent1>
        <a:srgbClr val="2F5D50"/>
      </a:accent1>
      <a:accent2>
        <a:srgbClr val="E0A526"/>
      </a:accent2>
      <a:accent3>
        <a:srgbClr val="C9D3CC"/>
      </a:accent3>
      <a:accent4>
        <a:srgbClr val="9AA0A6"/>
      </a:accent4>
      <a:accent5>
        <a:srgbClr val="9DA4A0"/>
      </a:accent5>
      <a:accent6>
        <a:srgbClr val="7D8581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enú de restaurante - DOM Traversing">
  <a:themeElements>
    <a:clrScheme name="Menú de restaurante - DOM Traversing">
      <a:dk1>
        <a:srgbClr val="1E2A26"/>
      </a:dk1>
      <a:lt1>
        <a:srgbClr val="F2F5F1"/>
      </a:lt1>
      <a:dk2>
        <a:srgbClr val="333E3A"/>
      </a:dk2>
      <a:lt2>
        <a:srgbClr val="BDC2BE"/>
      </a:lt2>
      <a:accent1>
        <a:srgbClr val="2F5D50"/>
      </a:accent1>
      <a:accent2>
        <a:srgbClr val="E0A526"/>
      </a:accent2>
      <a:accent3>
        <a:srgbClr val="C9D3CC"/>
      </a:accent3>
      <a:accent4>
        <a:srgbClr val="9AA0A6"/>
      </a:accent4>
      <a:accent5>
        <a:srgbClr val="9DA4A0"/>
      </a:accent5>
      <a:accent6>
        <a:srgbClr val="7D8581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2026-10-20T12:42:26Z</dcterms:created>
</cp:coreProperties>
</file>